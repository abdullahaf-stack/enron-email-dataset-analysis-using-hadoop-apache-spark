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84508"/>
            <a:ext cx="3786188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ACD"/>
                </a:solidFill>
              </a:rPr>
              <a:t>Big Data Analysis of the Enron Email Dataset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693291"/>
            <a:ext cx="3786188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D700"/>
                </a:solidFill>
              </a:rPr>
              <a:t>Leveraging Hadoop &amp; Apache Spark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459349"/>
            <a:ext cx="2000250" cy="1052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86313" y="1940923"/>
            <a:ext cx="19794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Course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786313" y="2162380"/>
            <a:ext cx="1979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DSC 473 – Programming for Big Data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4786313" y="2619580"/>
            <a:ext cx="10852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Dataset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4786313" y="2841036"/>
            <a:ext cx="10852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Enron Email Dataset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4786313" y="3298236"/>
            <a:ext cx="24866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Tools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4786313" y="3519692"/>
            <a:ext cx="24866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Docker, Hadoop, HDFS, Apache Spark, PySpark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4957763" y="4119767"/>
            <a:ext cx="18916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Presented By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957763" y="4362655"/>
            <a:ext cx="18916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FFFACD"/>
                </a:solidFill>
              </a:rPr>
              <a:t>Meshal Al-baiji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– 2220004283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4957763" y="4612686"/>
            <a:ext cx="18916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FFFACD"/>
                </a:solidFill>
              </a:rPr>
              <a:t>Sultan Ghazi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– 2220004385</a:t>
            </a:r>
            <a:endParaRPr lang="en-US" sz="734" dirty="0"/>
          </a:p>
        </p:txBody>
      </p:sp>
      <p:sp>
        <p:nvSpPr>
          <p:cNvPr id="15" name="Text 11"/>
          <p:cNvSpPr/>
          <p:nvPr/>
        </p:nvSpPr>
        <p:spPr>
          <a:xfrm>
            <a:off x="4957763" y="4862717"/>
            <a:ext cx="18916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FFFACD"/>
                </a:solidFill>
              </a:rPr>
              <a:t>Abdullah Abdulrazzaq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– 2220002584</a:t>
            </a:r>
            <a:endParaRPr lang="en-US" sz="7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65901"/>
            <a:ext cx="3821906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The Enron Email Dataset: A Real-World Big Data Challenge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888852"/>
            <a:ext cx="38219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What is it?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2171030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Over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one million email messages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exchanged within Enron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Corporation.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2643913"/>
            <a:ext cx="3821906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A publicly available, complex, and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unstructured dataset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171030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643913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112526"/>
            <a:ext cx="38219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Why analyze it?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3394704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Scale: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Exceeds the minimum threshold for Big Data analysis (&gt; 2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GB).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3867587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Complexity: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Stored across thousands of files, ideal for distributed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processing.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71500" y="4340470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Insight: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Enables analysis of communication patterns and word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frequency.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3394704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71500" y="386758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4340470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09" y="1646132"/>
            <a:ext cx="3571875" cy="22798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Key Project Goals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868663"/>
            <a:ext cx="3929063" cy="798314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868663"/>
            <a:ext cx="21431" cy="79831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982963"/>
            <a:ext cx="3700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Data Ingestion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85800" y="1209777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Import large, unstructured datasets into HDFS for distributed storage and accessibility.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643438" y="868663"/>
            <a:ext cx="3929063" cy="798314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43438" y="868663"/>
            <a:ext cx="21431" cy="79831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7"/>
          <p:cNvSpPr/>
          <p:nvPr/>
        </p:nvSpPr>
        <p:spPr>
          <a:xfrm>
            <a:off x="4757738" y="982963"/>
            <a:ext cx="3700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Distributed Processing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757738" y="1209777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Utilize Apache Spark for high-speed, scalable data processing across the cluster.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571500" y="1809852"/>
            <a:ext cx="3929063" cy="798314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1809852"/>
            <a:ext cx="21431" cy="79831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924152"/>
            <a:ext cx="3700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Core Analysis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685800" y="2150966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Perform Word Frequency Analysis across the entire dataset to uncover patterns.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643438" y="1809852"/>
            <a:ext cx="3929063" cy="798314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43438" y="1809852"/>
            <a:ext cx="21431" cy="79831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7738" y="1924152"/>
            <a:ext cx="3700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Output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57738" y="2150966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Export results into structured, reviewable formats for further analysis and reporting.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821906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Building the Big Data Pipeline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04382"/>
            <a:ext cx="3821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1. Cluster Setup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1131196"/>
            <a:ext cx="38219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Deployed a Hadoop cluster using Docker with the following components: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571500" y="1374084"/>
            <a:ext cx="3821906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FFFACD"/>
                </a:solidFill>
              </a:rPr>
              <a:t>• NameNode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Handling Unstructured Text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40101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The Challenge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222279"/>
            <a:ext cx="800100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Emails are unstructured text files with inconsistent formatting, unnecessary blank lines, and mixed content types that require careful preparation before analysis.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1825200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The Solution: Data Cleaning Actions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178816"/>
            <a:ext cx="39112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Action 1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2400272"/>
            <a:ext cx="3911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ACD"/>
                </a:solidFill>
              </a:rPr>
              <a:t>Tokenization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71500" y="2632444"/>
            <a:ext cx="3911203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Split each email into individual words for granular analysis: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2969623"/>
            <a:ext cx="3911203" cy="31075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969623"/>
            <a:ext cx="21431" cy="31075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969623"/>
            <a:ext cx="3911203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explode(split(col("value"), " "))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661297" y="2178816"/>
            <a:ext cx="39112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Action 2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661297" y="2400272"/>
            <a:ext cx="3911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ACD"/>
                </a:solidFill>
              </a:rPr>
              <a:t>Filtering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661297" y="2632444"/>
            <a:ext cx="3911203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Remove blank or null tokens to ensure data quality: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661297" y="2969623"/>
            <a:ext cx="3911203" cy="31075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1297" y="2969623"/>
            <a:ext cx="21431" cy="31075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5"/>
          <p:cNvSpPr/>
          <p:nvPr/>
        </p:nvSpPr>
        <p:spPr>
          <a:xfrm>
            <a:off x="4661297" y="2969623"/>
            <a:ext cx="3911203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filter((col("word") != "") &amp; col("word").isNotNull())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71500" y="3601845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Result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71500" y="3842947"/>
            <a:ext cx="80010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Empty tokens were successfully removed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571500" y="4100122"/>
            <a:ext cx="80010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Only valid words were used for subsequent analytics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71500" y="3842947"/>
            <a:ext cx="8262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✓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71500" y="4100122"/>
            <a:ext cx="8262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✓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Uncovering Communication Patterns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820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Analytical Goal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714375" y="1150841"/>
            <a:ext cx="78581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Identify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most frequently occurring words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across the entire Enron dataset.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714375" y="1419430"/>
            <a:ext cx="78581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This reveals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common structures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communication focus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within business emails.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14375" y="1150841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14375" y="1419430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D700"/>
                </a:solidFill>
              </a:rPr>
              <a:t>▸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1780887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Processing Steps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14375" y="1955909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1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035844" y="1955909"/>
            <a:ext cx="35459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ACD"/>
                </a:solidFill>
              </a:rPr>
              <a:t>Grouping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035844" y="2154148"/>
            <a:ext cx="354592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Group the cleaned words by unique values to prepare for aggregation.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14375" y="2443469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2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035844" y="2443469"/>
            <a:ext cx="34268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ACD"/>
                </a:solidFill>
              </a:rPr>
              <a:t>Counting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035844" y="2641709"/>
            <a:ext cx="342687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Count the occurrences of each unique word across all email records.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14375" y="2931030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3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035844" y="2931030"/>
            <a:ext cx="3744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ACD"/>
                </a:solidFill>
              </a:rPr>
              <a:t>Sorting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035844" y="3129269"/>
            <a:ext cx="37445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Order the results in descending count to identify the most frequent words.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714375" y="3397160"/>
            <a:ext cx="7858125" cy="6057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7"/>
          <p:cNvSpPr/>
          <p:nvPr/>
        </p:nvSpPr>
        <p:spPr>
          <a:xfrm>
            <a:off x="714375" y="3397160"/>
            <a:ext cx="7858125" cy="60576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word_counts = words_clean.groupBy("word")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.count().orderBy(col("count").desc())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98680"/>
            <a:ext cx="3821906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Results of Word Frequency Analysis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478756"/>
            <a:ext cx="3821906" cy="1045834"/>
          </a:xfrm>
          <a:prstGeom prst="rect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78756"/>
            <a:ext cx="28575" cy="104583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3"/>
          <p:cNvSpPr/>
          <p:nvPr/>
        </p:nvSpPr>
        <p:spPr>
          <a:xfrm>
            <a:off x="700088" y="1607344"/>
            <a:ext cx="3564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Finding 1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700088" y="1814513"/>
            <a:ext cx="356473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FFFACD"/>
                </a:solidFill>
              </a:rPr>
              <a:t>Stop Words Dominate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0088" y="2053103"/>
            <a:ext cx="3564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Common English words (the, to, and, of) are most frequent, requiring further removal for semantic analysis.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71500" y="2703184"/>
            <a:ext cx="3821906" cy="1045834"/>
          </a:xfrm>
          <a:prstGeom prst="rect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703184"/>
            <a:ext cx="28575" cy="104583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8"/>
          <p:cNvSpPr/>
          <p:nvPr/>
        </p:nvSpPr>
        <p:spPr>
          <a:xfrm>
            <a:off x="700088" y="2831771"/>
            <a:ext cx="3564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Finding 2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00088" y="3038940"/>
            <a:ext cx="356473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FFFACD"/>
                </a:solidFill>
              </a:rPr>
              <a:t>Metadata Prevalent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00088" y="3277530"/>
            <a:ext cx="3564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Email headers (Subject, To, From, Date, Mime-Version, Content-Type) repeat for every email, heavily influencing word distribution.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71500" y="3927611"/>
            <a:ext cx="3821906" cy="1045834"/>
          </a:xfrm>
          <a:prstGeom prst="rect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927611"/>
            <a:ext cx="28575" cy="104583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3"/>
          <p:cNvSpPr/>
          <p:nvPr/>
        </p:nvSpPr>
        <p:spPr>
          <a:xfrm>
            <a:off x="700088" y="4056199"/>
            <a:ext cx="3564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Finding 3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700088" y="4263368"/>
            <a:ext cx="356473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FFFACD"/>
                </a:solidFill>
              </a:rPr>
              <a:t>Textual Noise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700088" y="4501958"/>
            <a:ext cx="3564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Symbols and formatting characters (e.g., &gt;, -) appear frequently, indicating the need for more aggressive text normalization.</a:t>
            </a:r>
            <a:endParaRPr lang="en-US" sz="78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047" y="1928813"/>
            <a:ext cx="342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Overcoming Technical Hurdles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820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Challenge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714875" y="975820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D700"/>
                </a:solidFill>
              </a:rPr>
              <a:t>Solution Implemented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500" y="1516959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Docker Permissions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72948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Container permission errors during output directory creation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714875" y="1516959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Switched to root user and applied permissions using: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714875" y="1781277"/>
            <a:ext cx="3857625" cy="244311"/>
          </a:xfrm>
          <a:prstGeom prst="rect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14875" y="1781277"/>
            <a:ext cx="14288" cy="244311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8"/>
          <p:cNvSpPr/>
          <p:nvPr/>
        </p:nvSpPr>
        <p:spPr>
          <a:xfrm>
            <a:off x="4714875" y="1781277"/>
            <a:ext cx="3857625" cy="24431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chmod -R 777 /data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2375632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HDFS Endpoint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258815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Spark failed to locate the HDFS endpoint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714875" y="2375632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Reconfigured Spark to use the correct Hadoop default file system address: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4714875" y="2639950"/>
            <a:ext cx="3857625" cy="244311"/>
          </a:xfrm>
          <a:prstGeom prst="rect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2639950"/>
            <a:ext cx="14288" cy="244311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2639950"/>
            <a:ext cx="3857625" cy="24431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FFD700"/>
                </a:solidFill>
              </a:rPr>
              <a:t>hdfs://hadoop-namenode-1:9000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571500" y="3234305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Large Data Handling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71500" y="344683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Processing over one million text records efficiently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4714875" y="3234305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Leveraged Spark's in-memory distributed processing to efficiently batch-process the entire dataset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571500" y="3968325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Text Noise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71500" y="4180852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Inconsistent formatting and textual noise in raw emails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714875" y="3968325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FACD"/>
                </a:solidFill>
              </a:rPr>
              <a:t>Filtered null and empty tokens to normalize word extraction and improve data quality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39121"/>
            <a:ext cx="3821906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FACD"/>
                </a:solidFill>
              </a:rPr>
              <a:t>Project Summary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686316"/>
            <a:ext cx="38219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D700"/>
                </a:solidFill>
              </a:rPr>
              <a:t>Successes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989925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Successfully implemented 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complete Big Data pipeline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using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HDFS and Spark.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2455664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Processed over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1 million unstructured email records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using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PySpark efficiently.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921403"/>
            <a:ext cx="3821906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Performed 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scalable Word Count analysis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and exported results in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structured formats.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571500" y="3537161"/>
            <a:ext cx="3821906" cy="895815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3537161"/>
            <a:ext cx="28575" cy="895815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989925"/>
            <a:ext cx="9579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✓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455664"/>
            <a:ext cx="9579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✓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921403"/>
            <a:ext cx="9579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✓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14375" y="3680036"/>
            <a:ext cx="3536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D700"/>
                </a:solidFill>
              </a:rPr>
              <a:t>Key Takeaway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14375" y="3901492"/>
            <a:ext cx="353615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Email datasets require </a:t>
            </a:r>
            <a:pPr algn="l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FFD700"/>
                </a:solidFill>
              </a:rPr>
              <a:t>advanced preprocessing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 to filter out </a:t>
            </a:r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FFFACD"/>
                </a:solidFill>
              </a:rPr>
              <a:t>heavy metadata and stop words for deeper, meaningful insights.</a:t>
            </a:r>
            <a:endParaRPr lang="en-US" sz="834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047" y="1714946"/>
            <a:ext cx="3429000" cy="21422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03188" y="1670940"/>
            <a:ext cx="2337569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2" kern="0" dirty="0">
                <a:solidFill>
                  <a:srgbClr val="FFFACD"/>
                </a:solidFill>
              </a:rPr>
              <a:t>Thank You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3691170" y="2969651"/>
            <a:ext cx="1761604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D700"/>
                </a:solidFill>
              </a:rPr>
              <a:t>Any Questions?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2857891" y="3695440"/>
            <a:ext cx="342819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ACD"/>
                </a:solidFill>
              </a:rPr>
              <a:t>Meshal Al-baiji • Sultan Ghazi • Abdullah Abdulrazzaq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2025-12-16T22:33:13Z</dcterms:created>
  <dcterms:modified xsi:type="dcterms:W3CDTF">2025-12-16T22:33:13Z</dcterms:modified>
</cp:coreProperties>
</file>